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My dissertation is in offline reinforcement learning: teaching a robot to act from a fixed dataset of recorded demonstrations, with no opportunity to practise.
The system works by imagining. From wherever it is, it generates fifty plausible futures using a diffusion model - the same family of models behind AI image generators - scores them with a learned critic, executes one step of the best, and re-imagines. That is the published state of the art.
I asked whether it would do better if it SEARCHED - explored a tree of futures, the way a chess engine does - instead of guessing fifty times independently. The answer turned out to be conditional, and pinning down those conditions became the thesis. Three findings.
FIRST: search only pays if the generator can honestly continue from a hypothetical you hand it. There are two ways to build the imagination: one generates a whole trajectory in one shot, every timestep resolved together; the other generates causally, each step conditioned on the history so far. The one-shot model can't condition honestly. You can force it, and it produces confident nonsense - and the search then actively hunts for that nonsense, so it gets worse. I retrained the generator so the conditioning is exact, and search flipped from harmful to helpful. On a robot-arm kitchen task - open the microwave, move the kettle, four subtasks - it completed one extra subtask in 43% of trials. Positive on every seed, and replicated on a navigation task.
SECOND: search is an equaliser, not an amplifier. The weaker the generator, the more search recovers; against a strong one it buys nothing. Measured across three generators, it is a clean monotone line.
THIRD, and the one I would highlight here: nothing beat the ceiling of the data. Across 850 trials and four different methods, not one exceeded the best behaviour the training set ever demonstrated. I then verified it in the raw data itself: the demonstrations never complete all four subtasks, so every learned component inherits that cap.
BRIDGE: That last finding is the RL version of a constraint every phenotyping pipeline lives with - a model is bounded by the quality of the ground truth it learns from, and with manual field scoring that ceiling is real. Knowing how to measure where it sits rather than assume it is what I would bring here. And the discipline the project forced on me - every comparison paired, seeded, and statistically tested, because the effects were small and the variance was large - is the same discipline a field trial demands.
--- BACKUP NUMBERS (if asked) ---
Navigation task: +9.04, paired t = 3.90, 5 seeds, n = 125 rollouts.
Kitchen task: +10.5, paired t = 5.47, 4 seeds, n = 100. Per-seed +8/+10/+17/+7. Per-trial: 48 wins, 10 losses, 42 ties.
Equaliser curve: gain -2.6 / +9.0 / +37.2 as flat baseline falls 205 / 183 / 148; tree landing point barely moves (202 / 192 / 185).
Ceiling: 613 demonstrations, per-trajectory max subtasks solved = {0:1, 1:35, 2:312, 3:265} - never 4. Control split reaches 4 in 3.1% of demos.
Validation: paired arms sharing environments and seeds, one variable changed at a time, pooled paired t-tests against a threshold declared in advance.
--- IF ASKED 'so it failed?' ---
No - it works in one regime and hurts in another, and I established which is which, with the mechanism. Two confirmed positive results plus a boundary result. A concurrent ICML paper reports search helping on their benchmarks; my law predicts both their result and my nulls from the same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37744"/>
            <a:ext cx="8229600" cy="420624"/>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When does thinking ahead actually help?</a:t>
            </a:r>
            <a:endParaRPr lang="en-US" sz="2800" dirty="0"/>
          </a:p>
        </p:txBody>
      </p:sp>
      <p:sp>
        <p:nvSpPr>
          <p:cNvPr id="3" name="Text 1"/>
          <p:cNvSpPr/>
          <p:nvPr/>
        </p:nvSpPr>
        <p:spPr>
          <a:xfrm>
            <a:off x="457200" y="676656"/>
            <a:ext cx="8229600" cy="256032"/>
          </a:xfrm>
          <a:prstGeom prst="rect">
            <a:avLst/>
          </a:prstGeom>
          <a:noFill/>
          <a:ln/>
        </p:spPr>
        <p:txBody>
          <a:bodyPr wrap="square" lIns="0" tIns="0" rIns="0" bIns="0" rtlCol="0" anchor="ctr"/>
          <a:lstStyle/>
          <a:p>
            <a:pPr algn="l" indent="0" marL="0">
              <a:buNone/>
            </a:pPr>
            <a:r>
              <a:rPr lang="en-US" sz="1150" dirty="0">
                <a:solidFill>
                  <a:srgbClr val="6E7480"/>
                </a:solidFill>
                <a:latin typeface="Calibri" pitchFamily="34" charset="0"/>
                <a:ea typeface="Calibri" pitchFamily="34" charset="-122"/>
                <a:cs typeface="Calibri" pitchFamily="34" charset="-120"/>
              </a:rPr>
              <a:t>MSc dissertation — teaching a robot to act from a fixed dataset of recorded demonstrations, with no chance to practise</a:t>
            </a:r>
            <a:endParaRPr lang="en-US" sz="1150" dirty="0"/>
          </a:p>
        </p:txBody>
      </p:sp>
      <p:sp>
        <p:nvSpPr>
          <p:cNvPr id="4" name="Shape 2"/>
          <p:cNvSpPr/>
          <p:nvPr/>
        </p:nvSpPr>
        <p:spPr>
          <a:xfrm>
            <a:off x="457200" y="1005840"/>
            <a:ext cx="3977640" cy="1828800"/>
          </a:xfrm>
          <a:prstGeom prst="roundRect">
            <a:avLst>
              <a:gd name="adj" fmla="val 2000"/>
            </a:avLst>
          </a:prstGeom>
          <a:solidFill>
            <a:srgbClr val="F3F6FC"/>
          </a:solidFill>
          <a:ln w="12700">
            <a:solidFill>
              <a:srgbClr val="FFFFFF"/>
            </a:solidFill>
            <a:prstDash val="solid"/>
          </a:ln>
        </p:spPr>
      </p:sp>
      <p:sp>
        <p:nvSpPr>
          <p:cNvPr id="5" name="Shape 3"/>
          <p:cNvSpPr/>
          <p:nvPr/>
        </p:nvSpPr>
        <p:spPr>
          <a:xfrm>
            <a:off x="4709160" y="1005840"/>
            <a:ext cx="3977640" cy="1828800"/>
          </a:xfrm>
          <a:prstGeom prst="roundRect">
            <a:avLst>
              <a:gd name="adj" fmla="val 2000"/>
            </a:avLst>
          </a:prstGeom>
          <a:solidFill>
            <a:srgbClr val="F3F6FC"/>
          </a:solidFill>
          <a:ln w="12700">
            <a:solidFill>
              <a:srgbClr val="FFFFFF"/>
            </a:solidFill>
            <a:prstDash val="solid"/>
          </a:ln>
        </p:spPr>
      </p:sp>
      <p:sp>
        <p:nvSpPr>
          <p:cNvPr id="6" name="Text 4"/>
          <p:cNvSpPr/>
          <p:nvPr/>
        </p:nvSpPr>
        <p:spPr>
          <a:xfrm>
            <a:off x="621792" y="1097280"/>
            <a:ext cx="3657600" cy="201168"/>
          </a:xfrm>
          <a:prstGeom prst="rect">
            <a:avLst/>
          </a:prstGeom>
          <a:noFill/>
          <a:ln/>
        </p:spPr>
        <p:txBody>
          <a:bodyPr wrap="square" lIns="0" tIns="0" rIns="0" bIns="0" rtlCol="0" anchor="ctr"/>
          <a:lstStyle/>
          <a:p>
            <a:pPr indent="0" marL="0">
              <a:buNone/>
            </a:pPr>
            <a:r>
              <a:rPr lang="en-US" sz="900" b="1" spc="60" kern="0" dirty="0">
                <a:solidFill>
                  <a:srgbClr val="1E2761"/>
                </a:solidFill>
                <a:latin typeface="Calibri" pitchFamily="34" charset="0"/>
                <a:ea typeface="Calibri" pitchFamily="34" charset="-122"/>
                <a:cs typeface="Calibri" pitchFamily="34" charset="-120"/>
              </a:rPr>
              <a:t>SAMPLE 50 WHOLE FUTURES, SCORE, TAKE ONE STEP</a:t>
            </a:r>
            <a:endParaRPr lang="en-US" sz="900" dirty="0"/>
          </a:p>
        </p:txBody>
      </p:sp>
      <p:sp>
        <p:nvSpPr>
          <p:cNvPr id="7" name="Shape 5"/>
          <p:cNvSpPr/>
          <p:nvPr/>
        </p:nvSpPr>
        <p:spPr>
          <a:xfrm flipV="1">
            <a:off x="868680" y="1444752"/>
            <a:ext cx="2880360" cy="640080"/>
          </a:xfrm>
          <a:prstGeom prst="line">
            <a:avLst/>
          </a:prstGeom>
          <a:noFill/>
          <a:ln w="19050">
            <a:solidFill>
              <a:srgbClr val="AFC1DF"/>
            </a:solidFill>
            <a:prstDash val="solid"/>
          </a:ln>
        </p:spPr>
      </p:sp>
      <p:sp>
        <p:nvSpPr>
          <p:cNvPr id="8" name="Shape 6"/>
          <p:cNvSpPr/>
          <p:nvPr/>
        </p:nvSpPr>
        <p:spPr>
          <a:xfrm>
            <a:off x="3717036" y="1412748"/>
            <a:ext cx="64008" cy="64008"/>
          </a:xfrm>
          <a:prstGeom prst="ellipse">
            <a:avLst/>
          </a:prstGeom>
          <a:solidFill>
            <a:srgbClr val="AFC1DF"/>
          </a:solidFill>
          <a:ln w="6350">
            <a:solidFill>
              <a:srgbClr val="AFC1DF"/>
            </a:solidFill>
            <a:prstDash val="solid"/>
          </a:ln>
        </p:spPr>
      </p:sp>
      <p:sp>
        <p:nvSpPr>
          <p:cNvPr id="9" name="Shape 7"/>
          <p:cNvSpPr/>
          <p:nvPr/>
        </p:nvSpPr>
        <p:spPr>
          <a:xfrm flipV="1">
            <a:off x="868680" y="1655064"/>
            <a:ext cx="2880360" cy="429768"/>
          </a:xfrm>
          <a:prstGeom prst="line">
            <a:avLst/>
          </a:prstGeom>
          <a:noFill/>
          <a:ln w="31750">
            <a:solidFill>
              <a:srgbClr val="D94F35"/>
            </a:solidFill>
            <a:prstDash val="solid"/>
          </a:ln>
        </p:spPr>
      </p:sp>
      <p:sp>
        <p:nvSpPr>
          <p:cNvPr id="10" name="Shape 8"/>
          <p:cNvSpPr/>
          <p:nvPr/>
        </p:nvSpPr>
        <p:spPr>
          <a:xfrm>
            <a:off x="3717036" y="1623060"/>
            <a:ext cx="64008" cy="64008"/>
          </a:xfrm>
          <a:prstGeom prst="ellipse">
            <a:avLst/>
          </a:prstGeom>
          <a:solidFill>
            <a:srgbClr val="D94F35"/>
          </a:solidFill>
          <a:ln w="6350">
            <a:solidFill>
              <a:srgbClr val="D94F35"/>
            </a:solidFill>
            <a:prstDash val="solid"/>
          </a:ln>
        </p:spPr>
      </p:sp>
      <p:sp>
        <p:nvSpPr>
          <p:cNvPr id="11" name="Shape 9"/>
          <p:cNvSpPr/>
          <p:nvPr/>
        </p:nvSpPr>
        <p:spPr>
          <a:xfrm flipV="1">
            <a:off x="868680" y="1865376"/>
            <a:ext cx="2880360" cy="219456"/>
          </a:xfrm>
          <a:prstGeom prst="line">
            <a:avLst/>
          </a:prstGeom>
          <a:noFill/>
          <a:ln w="19050">
            <a:solidFill>
              <a:srgbClr val="AFC1DF"/>
            </a:solidFill>
            <a:prstDash val="solid"/>
          </a:ln>
        </p:spPr>
      </p:sp>
      <p:sp>
        <p:nvSpPr>
          <p:cNvPr id="12" name="Shape 10"/>
          <p:cNvSpPr/>
          <p:nvPr/>
        </p:nvSpPr>
        <p:spPr>
          <a:xfrm>
            <a:off x="3717036" y="1833372"/>
            <a:ext cx="64008" cy="64008"/>
          </a:xfrm>
          <a:prstGeom prst="ellipse">
            <a:avLst/>
          </a:prstGeom>
          <a:solidFill>
            <a:srgbClr val="AFC1DF"/>
          </a:solidFill>
          <a:ln w="6350">
            <a:solidFill>
              <a:srgbClr val="AFC1DF"/>
            </a:solidFill>
            <a:prstDash val="solid"/>
          </a:ln>
        </p:spPr>
      </p:sp>
      <p:sp>
        <p:nvSpPr>
          <p:cNvPr id="13" name="Shape 11"/>
          <p:cNvSpPr/>
          <p:nvPr/>
        </p:nvSpPr>
        <p:spPr>
          <a:xfrm>
            <a:off x="868680" y="2084832"/>
            <a:ext cx="2880360" cy="3658"/>
          </a:xfrm>
          <a:prstGeom prst="line">
            <a:avLst/>
          </a:prstGeom>
          <a:noFill/>
          <a:ln w="19050">
            <a:solidFill>
              <a:srgbClr val="AFC1DF"/>
            </a:solidFill>
            <a:prstDash val="solid"/>
          </a:ln>
        </p:spPr>
      </p:sp>
      <p:sp>
        <p:nvSpPr>
          <p:cNvPr id="14" name="Shape 12"/>
          <p:cNvSpPr/>
          <p:nvPr/>
        </p:nvSpPr>
        <p:spPr>
          <a:xfrm>
            <a:off x="3717036" y="2052828"/>
            <a:ext cx="64008" cy="64008"/>
          </a:xfrm>
          <a:prstGeom prst="ellipse">
            <a:avLst/>
          </a:prstGeom>
          <a:solidFill>
            <a:srgbClr val="AFC1DF"/>
          </a:solidFill>
          <a:ln w="6350">
            <a:solidFill>
              <a:srgbClr val="AFC1DF"/>
            </a:solidFill>
            <a:prstDash val="solid"/>
          </a:ln>
        </p:spPr>
      </p:sp>
      <p:sp>
        <p:nvSpPr>
          <p:cNvPr id="15" name="Shape 13"/>
          <p:cNvSpPr/>
          <p:nvPr/>
        </p:nvSpPr>
        <p:spPr>
          <a:xfrm>
            <a:off x="868680" y="2084832"/>
            <a:ext cx="2880360" cy="210312"/>
          </a:xfrm>
          <a:prstGeom prst="line">
            <a:avLst/>
          </a:prstGeom>
          <a:noFill/>
          <a:ln w="19050">
            <a:solidFill>
              <a:srgbClr val="AFC1DF"/>
            </a:solidFill>
            <a:prstDash val="solid"/>
          </a:ln>
        </p:spPr>
      </p:sp>
      <p:sp>
        <p:nvSpPr>
          <p:cNvPr id="16" name="Shape 14"/>
          <p:cNvSpPr/>
          <p:nvPr/>
        </p:nvSpPr>
        <p:spPr>
          <a:xfrm>
            <a:off x="3717036" y="2263140"/>
            <a:ext cx="64008" cy="64008"/>
          </a:xfrm>
          <a:prstGeom prst="ellipse">
            <a:avLst/>
          </a:prstGeom>
          <a:solidFill>
            <a:srgbClr val="AFC1DF"/>
          </a:solidFill>
          <a:ln w="6350">
            <a:solidFill>
              <a:srgbClr val="AFC1DF"/>
            </a:solidFill>
            <a:prstDash val="solid"/>
          </a:ln>
        </p:spPr>
      </p:sp>
      <p:sp>
        <p:nvSpPr>
          <p:cNvPr id="17" name="Shape 15"/>
          <p:cNvSpPr/>
          <p:nvPr/>
        </p:nvSpPr>
        <p:spPr>
          <a:xfrm>
            <a:off x="868680" y="2084832"/>
            <a:ext cx="2880360" cy="420624"/>
          </a:xfrm>
          <a:prstGeom prst="line">
            <a:avLst/>
          </a:prstGeom>
          <a:noFill/>
          <a:ln w="19050">
            <a:solidFill>
              <a:srgbClr val="AFC1DF"/>
            </a:solidFill>
            <a:prstDash val="solid"/>
          </a:ln>
        </p:spPr>
      </p:sp>
      <p:sp>
        <p:nvSpPr>
          <p:cNvPr id="18" name="Shape 16"/>
          <p:cNvSpPr/>
          <p:nvPr/>
        </p:nvSpPr>
        <p:spPr>
          <a:xfrm>
            <a:off x="3717036" y="2473452"/>
            <a:ext cx="64008" cy="64008"/>
          </a:xfrm>
          <a:prstGeom prst="ellipse">
            <a:avLst/>
          </a:prstGeom>
          <a:solidFill>
            <a:srgbClr val="AFC1DF"/>
          </a:solidFill>
          <a:ln w="6350">
            <a:solidFill>
              <a:srgbClr val="AFC1DF"/>
            </a:solidFill>
            <a:prstDash val="solid"/>
          </a:ln>
        </p:spPr>
      </p:sp>
      <p:sp>
        <p:nvSpPr>
          <p:cNvPr id="19" name="Shape 17"/>
          <p:cNvSpPr/>
          <p:nvPr/>
        </p:nvSpPr>
        <p:spPr>
          <a:xfrm>
            <a:off x="868680" y="2084832"/>
            <a:ext cx="2880360" cy="630936"/>
          </a:xfrm>
          <a:prstGeom prst="line">
            <a:avLst/>
          </a:prstGeom>
          <a:noFill/>
          <a:ln w="19050">
            <a:solidFill>
              <a:srgbClr val="AFC1DF"/>
            </a:solidFill>
            <a:prstDash val="solid"/>
          </a:ln>
        </p:spPr>
      </p:sp>
      <p:sp>
        <p:nvSpPr>
          <p:cNvPr id="20" name="Shape 18"/>
          <p:cNvSpPr/>
          <p:nvPr/>
        </p:nvSpPr>
        <p:spPr>
          <a:xfrm>
            <a:off x="3717036" y="2683764"/>
            <a:ext cx="64008" cy="64008"/>
          </a:xfrm>
          <a:prstGeom prst="ellipse">
            <a:avLst/>
          </a:prstGeom>
          <a:solidFill>
            <a:srgbClr val="AFC1DF"/>
          </a:solidFill>
          <a:ln w="6350">
            <a:solidFill>
              <a:srgbClr val="AFC1DF"/>
            </a:solidFill>
            <a:prstDash val="solid"/>
          </a:ln>
        </p:spPr>
      </p:sp>
      <p:sp>
        <p:nvSpPr>
          <p:cNvPr id="21" name="Shape 19"/>
          <p:cNvSpPr/>
          <p:nvPr/>
        </p:nvSpPr>
        <p:spPr>
          <a:xfrm>
            <a:off x="809244" y="2025396"/>
            <a:ext cx="118872" cy="118872"/>
          </a:xfrm>
          <a:prstGeom prst="ellipse">
            <a:avLst/>
          </a:prstGeom>
          <a:solidFill>
            <a:srgbClr val="1E2761"/>
          </a:solidFill>
          <a:ln w="6350">
            <a:solidFill>
              <a:srgbClr val="1E2761"/>
            </a:solidFill>
            <a:prstDash val="solid"/>
          </a:ln>
        </p:spPr>
      </p:sp>
      <p:sp>
        <p:nvSpPr>
          <p:cNvPr id="22" name="Text 20"/>
          <p:cNvSpPr/>
          <p:nvPr/>
        </p:nvSpPr>
        <p:spPr>
          <a:xfrm>
            <a:off x="3840480" y="1554480"/>
            <a:ext cx="457200" cy="182880"/>
          </a:xfrm>
          <a:prstGeom prst="rect">
            <a:avLst/>
          </a:prstGeom>
          <a:noFill/>
          <a:ln/>
        </p:spPr>
        <p:txBody>
          <a:bodyPr wrap="square" lIns="0" tIns="0" rIns="0" bIns="0" rtlCol="0" anchor="ctr"/>
          <a:lstStyle/>
          <a:p>
            <a:pPr indent="0" marL="0">
              <a:buNone/>
            </a:pPr>
            <a:r>
              <a:rPr lang="en-US" sz="850" b="1" dirty="0">
                <a:solidFill>
                  <a:srgbClr val="D94F35"/>
                </a:solidFill>
                <a:latin typeface="Calibri" pitchFamily="34" charset="0"/>
                <a:ea typeface="Calibri" pitchFamily="34" charset="-122"/>
                <a:cs typeface="Calibri" pitchFamily="34" charset="-120"/>
              </a:rPr>
              <a:t>best</a:t>
            </a:r>
            <a:endParaRPr lang="en-US" sz="850" dirty="0"/>
          </a:p>
        </p:txBody>
      </p:sp>
      <p:sp>
        <p:nvSpPr>
          <p:cNvPr id="23" name="Text 21"/>
          <p:cNvSpPr/>
          <p:nvPr/>
        </p:nvSpPr>
        <p:spPr>
          <a:xfrm>
            <a:off x="4873752" y="1097280"/>
            <a:ext cx="3657600" cy="201168"/>
          </a:xfrm>
          <a:prstGeom prst="rect">
            <a:avLst/>
          </a:prstGeom>
          <a:noFill/>
          <a:ln/>
        </p:spPr>
        <p:txBody>
          <a:bodyPr wrap="square" lIns="0" tIns="0" rIns="0" bIns="0" rtlCol="0" anchor="ctr"/>
          <a:lstStyle/>
          <a:p>
            <a:pPr indent="0" marL="0">
              <a:buNone/>
            </a:pPr>
            <a:r>
              <a:rPr lang="en-US" sz="900" b="1" spc="60" kern="0" dirty="0">
                <a:solidFill>
                  <a:srgbClr val="1E2761"/>
                </a:solidFill>
                <a:latin typeface="Calibri" pitchFamily="34" charset="0"/>
                <a:ea typeface="Calibri" pitchFamily="34" charset="-122"/>
                <a:cs typeface="Calibri" pitchFamily="34" charset="-120"/>
              </a:rPr>
              <a:t>IMAGINE SHORT SEGMENTS, BRANCH, AND BRANCH AGAIN</a:t>
            </a:r>
            <a:endParaRPr lang="en-US" sz="900" dirty="0"/>
          </a:p>
        </p:txBody>
      </p:sp>
      <p:sp>
        <p:nvSpPr>
          <p:cNvPr id="24" name="Shape 22"/>
          <p:cNvSpPr/>
          <p:nvPr/>
        </p:nvSpPr>
        <p:spPr>
          <a:xfrm flipV="1">
            <a:off x="5166360" y="1554480"/>
            <a:ext cx="1188720" cy="530352"/>
          </a:xfrm>
          <a:prstGeom prst="line">
            <a:avLst/>
          </a:prstGeom>
          <a:noFill/>
          <a:ln w="19050">
            <a:solidFill>
              <a:srgbClr val="AFC1DF"/>
            </a:solidFill>
            <a:prstDash val="solid"/>
          </a:ln>
        </p:spPr>
      </p:sp>
      <p:sp>
        <p:nvSpPr>
          <p:cNvPr id="25" name="Shape 23"/>
          <p:cNvSpPr/>
          <p:nvPr/>
        </p:nvSpPr>
        <p:spPr>
          <a:xfrm>
            <a:off x="5166360" y="2084832"/>
            <a:ext cx="1188720" cy="3658"/>
          </a:xfrm>
          <a:prstGeom prst="line">
            <a:avLst/>
          </a:prstGeom>
          <a:noFill/>
          <a:ln w="19050">
            <a:solidFill>
              <a:srgbClr val="AFC1DF"/>
            </a:solidFill>
            <a:prstDash val="solid"/>
          </a:ln>
        </p:spPr>
      </p:sp>
      <p:sp>
        <p:nvSpPr>
          <p:cNvPr id="26" name="Shape 24"/>
          <p:cNvSpPr/>
          <p:nvPr/>
        </p:nvSpPr>
        <p:spPr>
          <a:xfrm>
            <a:off x="5166360" y="2084832"/>
            <a:ext cx="1188720" cy="530352"/>
          </a:xfrm>
          <a:prstGeom prst="line">
            <a:avLst/>
          </a:prstGeom>
          <a:noFill/>
          <a:ln w="19050">
            <a:solidFill>
              <a:srgbClr val="AFC1DF"/>
            </a:solidFill>
            <a:prstDash val="solid"/>
          </a:ln>
        </p:spPr>
      </p:sp>
      <p:sp>
        <p:nvSpPr>
          <p:cNvPr id="27" name="Shape 25"/>
          <p:cNvSpPr/>
          <p:nvPr/>
        </p:nvSpPr>
        <p:spPr>
          <a:xfrm flipV="1">
            <a:off x="6355080" y="1380744"/>
            <a:ext cx="1508760" cy="173736"/>
          </a:xfrm>
          <a:prstGeom prst="line">
            <a:avLst/>
          </a:prstGeom>
          <a:noFill/>
          <a:ln w="19050">
            <a:solidFill>
              <a:srgbClr val="AFC1DF"/>
            </a:solidFill>
            <a:prstDash val="solid"/>
          </a:ln>
        </p:spPr>
      </p:sp>
      <p:sp>
        <p:nvSpPr>
          <p:cNvPr id="28" name="Shape 26"/>
          <p:cNvSpPr/>
          <p:nvPr/>
        </p:nvSpPr>
        <p:spPr>
          <a:xfrm>
            <a:off x="6355080" y="1554480"/>
            <a:ext cx="1508760" cy="173736"/>
          </a:xfrm>
          <a:prstGeom prst="line">
            <a:avLst/>
          </a:prstGeom>
          <a:noFill/>
          <a:ln w="19050">
            <a:solidFill>
              <a:srgbClr val="AFC1DF"/>
            </a:solidFill>
            <a:prstDash val="solid"/>
          </a:ln>
        </p:spPr>
      </p:sp>
      <p:sp>
        <p:nvSpPr>
          <p:cNvPr id="29" name="Shape 27"/>
          <p:cNvSpPr/>
          <p:nvPr/>
        </p:nvSpPr>
        <p:spPr>
          <a:xfrm flipV="1">
            <a:off x="6355080" y="1911096"/>
            <a:ext cx="1508760" cy="173736"/>
          </a:xfrm>
          <a:prstGeom prst="line">
            <a:avLst/>
          </a:prstGeom>
          <a:noFill/>
          <a:ln w="19050">
            <a:solidFill>
              <a:srgbClr val="AFC1DF"/>
            </a:solidFill>
            <a:prstDash val="solid"/>
          </a:ln>
        </p:spPr>
      </p:sp>
      <p:sp>
        <p:nvSpPr>
          <p:cNvPr id="30" name="Shape 28"/>
          <p:cNvSpPr/>
          <p:nvPr/>
        </p:nvSpPr>
        <p:spPr>
          <a:xfrm>
            <a:off x="6355080" y="2084832"/>
            <a:ext cx="1508760" cy="173736"/>
          </a:xfrm>
          <a:prstGeom prst="line">
            <a:avLst/>
          </a:prstGeom>
          <a:noFill/>
          <a:ln w="19050">
            <a:solidFill>
              <a:srgbClr val="AFC1DF"/>
            </a:solidFill>
            <a:prstDash val="solid"/>
          </a:ln>
        </p:spPr>
      </p:sp>
      <p:sp>
        <p:nvSpPr>
          <p:cNvPr id="31" name="Shape 29"/>
          <p:cNvSpPr/>
          <p:nvPr/>
        </p:nvSpPr>
        <p:spPr>
          <a:xfrm flipV="1">
            <a:off x="6355080" y="2441448"/>
            <a:ext cx="1508760" cy="173736"/>
          </a:xfrm>
          <a:prstGeom prst="line">
            <a:avLst/>
          </a:prstGeom>
          <a:noFill/>
          <a:ln w="19050">
            <a:solidFill>
              <a:srgbClr val="AFC1DF"/>
            </a:solidFill>
            <a:prstDash val="solid"/>
          </a:ln>
        </p:spPr>
      </p:sp>
      <p:sp>
        <p:nvSpPr>
          <p:cNvPr id="32" name="Shape 30"/>
          <p:cNvSpPr/>
          <p:nvPr/>
        </p:nvSpPr>
        <p:spPr>
          <a:xfrm>
            <a:off x="6355080" y="2615184"/>
            <a:ext cx="1508760" cy="173736"/>
          </a:xfrm>
          <a:prstGeom prst="line">
            <a:avLst/>
          </a:prstGeom>
          <a:noFill/>
          <a:ln w="19050">
            <a:solidFill>
              <a:srgbClr val="AFC1DF"/>
            </a:solidFill>
            <a:prstDash val="solid"/>
          </a:ln>
        </p:spPr>
      </p:sp>
      <p:sp>
        <p:nvSpPr>
          <p:cNvPr id="33" name="Shape 31"/>
          <p:cNvSpPr/>
          <p:nvPr/>
        </p:nvSpPr>
        <p:spPr>
          <a:xfrm flipV="1">
            <a:off x="5166360" y="1554480"/>
            <a:ext cx="1188720" cy="530352"/>
          </a:xfrm>
          <a:prstGeom prst="line">
            <a:avLst/>
          </a:prstGeom>
          <a:noFill/>
          <a:ln w="25400">
            <a:solidFill>
              <a:srgbClr val="D94F35"/>
            </a:solidFill>
            <a:prstDash val="solid"/>
          </a:ln>
        </p:spPr>
      </p:sp>
      <p:sp>
        <p:nvSpPr>
          <p:cNvPr id="34" name="Shape 32"/>
          <p:cNvSpPr/>
          <p:nvPr/>
        </p:nvSpPr>
        <p:spPr>
          <a:xfrm flipV="1">
            <a:off x="6355080" y="1380744"/>
            <a:ext cx="1508760" cy="173736"/>
          </a:xfrm>
          <a:prstGeom prst="line">
            <a:avLst/>
          </a:prstGeom>
          <a:noFill/>
          <a:ln w="25400">
            <a:solidFill>
              <a:srgbClr val="D94F35"/>
            </a:solidFill>
            <a:prstDash val="solid"/>
          </a:ln>
        </p:spPr>
      </p:sp>
      <p:sp>
        <p:nvSpPr>
          <p:cNvPr id="35" name="Shape 33"/>
          <p:cNvSpPr/>
          <p:nvPr/>
        </p:nvSpPr>
        <p:spPr>
          <a:xfrm>
            <a:off x="6323076" y="1522476"/>
            <a:ext cx="64008" cy="64008"/>
          </a:xfrm>
          <a:prstGeom prst="ellipse">
            <a:avLst/>
          </a:prstGeom>
          <a:solidFill>
            <a:srgbClr val="AFC1DF"/>
          </a:solidFill>
          <a:ln w="6350">
            <a:solidFill>
              <a:srgbClr val="AFC1DF"/>
            </a:solidFill>
            <a:prstDash val="solid"/>
          </a:ln>
        </p:spPr>
      </p:sp>
      <p:sp>
        <p:nvSpPr>
          <p:cNvPr id="36" name="Shape 34"/>
          <p:cNvSpPr/>
          <p:nvPr/>
        </p:nvSpPr>
        <p:spPr>
          <a:xfrm>
            <a:off x="6323076" y="2052828"/>
            <a:ext cx="64008" cy="64008"/>
          </a:xfrm>
          <a:prstGeom prst="ellipse">
            <a:avLst/>
          </a:prstGeom>
          <a:solidFill>
            <a:srgbClr val="AFC1DF"/>
          </a:solidFill>
          <a:ln w="6350">
            <a:solidFill>
              <a:srgbClr val="AFC1DF"/>
            </a:solidFill>
            <a:prstDash val="solid"/>
          </a:ln>
        </p:spPr>
      </p:sp>
      <p:sp>
        <p:nvSpPr>
          <p:cNvPr id="37" name="Shape 35"/>
          <p:cNvSpPr/>
          <p:nvPr/>
        </p:nvSpPr>
        <p:spPr>
          <a:xfrm>
            <a:off x="6323076" y="2583180"/>
            <a:ext cx="64008" cy="64008"/>
          </a:xfrm>
          <a:prstGeom prst="ellipse">
            <a:avLst/>
          </a:prstGeom>
          <a:solidFill>
            <a:srgbClr val="AFC1DF"/>
          </a:solidFill>
          <a:ln w="6350">
            <a:solidFill>
              <a:srgbClr val="AFC1DF"/>
            </a:solidFill>
            <a:prstDash val="solid"/>
          </a:ln>
        </p:spPr>
      </p:sp>
      <p:sp>
        <p:nvSpPr>
          <p:cNvPr id="38" name="Shape 36"/>
          <p:cNvSpPr/>
          <p:nvPr/>
        </p:nvSpPr>
        <p:spPr>
          <a:xfrm>
            <a:off x="7831836" y="1348740"/>
            <a:ext cx="64008" cy="64008"/>
          </a:xfrm>
          <a:prstGeom prst="ellipse">
            <a:avLst/>
          </a:prstGeom>
          <a:solidFill>
            <a:srgbClr val="AFC1DF"/>
          </a:solidFill>
          <a:ln w="6350">
            <a:solidFill>
              <a:srgbClr val="AFC1DF"/>
            </a:solidFill>
            <a:prstDash val="solid"/>
          </a:ln>
        </p:spPr>
      </p:sp>
      <p:sp>
        <p:nvSpPr>
          <p:cNvPr id="39" name="Shape 37"/>
          <p:cNvSpPr/>
          <p:nvPr/>
        </p:nvSpPr>
        <p:spPr>
          <a:xfrm>
            <a:off x="7831836" y="1696212"/>
            <a:ext cx="64008" cy="64008"/>
          </a:xfrm>
          <a:prstGeom prst="ellipse">
            <a:avLst/>
          </a:prstGeom>
          <a:solidFill>
            <a:srgbClr val="AFC1DF"/>
          </a:solidFill>
          <a:ln w="6350">
            <a:solidFill>
              <a:srgbClr val="AFC1DF"/>
            </a:solidFill>
            <a:prstDash val="solid"/>
          </a:ln>
        </p:spPr>
      </p:sp>
      <p:sp>
        <p:nvSpPr>
          <p:cNvPr id="40" name="Shape 38"/>
          <p:cNvSpPr/>
          <p:nvPr/>
        </p:nvSpPr>
        <p:spPr>
          <a:xfrm>
            <a:off x="7831836" y="1879092"/>
            <a:ext cx="64008" cy="64008"/>
          </a:xfrm>
          <a:prstGeom prst="ellipse">
            <a:avLst/>
          </a:prstGeom>
          <a:solidFill>
            <a:srgbClr val="AFC1DF"/>
          </a:solidFill>
          <a:ln w="6350">
            <a:solidFill>
              <a:srgbClr val="AFC1DF"/>
            </a:solidFill>
            <a:prstDash val="solid"/>
          </a:ln>
        </p:spPr>
      </p:sp>
      <p:sp>
        <p:nvSpPr>
          <p:cNvPr id="41" name="Shape 39"/>
          <p:cNvSpPr/>
          <p:nvPr/>
        </p:nvSpPr>
        <p:spPr>
          <a:xfrm>
            <a:off x="7831836" y="2226564"/>
            <a:ext cx="64008" cy="64008"/>
          </a:xfrm>
          <a:prstGeom prst="ellipse">
            <a:avLst/>
          </a:prstGeom>
          <a:solidFill>
            <a:srgbClr val="AFC1DF"/>
          </a:solidFill>
          <a:ln w="6350">
            <a:solidFill>
              <a:srgbClr val="AFC1DF"/>
            </a:solidFill>
            <a:prstDash val="solid"/>
          </a:ln>
        </p:spPr>
      </p:sp>
      <p:sp>
        <p:nvSpPr>
          <p:cNvPr id="42" name="Shape 40"/>
          <p:cNvSpPr/>
          <p:nvPr/>
        </p:nvSpPr>
        <p:spPr>
          <a:xfrm>
            <a:off x="7831836" y="2409444"/>
            <a:ext cx="64008" cy="64008"/>
          </a:xfrm>
          <a:prstGeom prst="ellipse">
            <a:avLst/>
          </a:prstGeom>
          <a:solidFill>
            <a:srgbClr val="AFC1DF"/>
          </a:solidFill>
          <a:ln w="6350">
            <a:solidFill>
              <a:srgbClr val="AFC1DF"/>
            </a:solidFill>
            <a:prstDash val="solid"/>
          </a:ln>
        </p:spPr>
      </p:sp>
      <p:sp>
        <p:nvSpPr>
          <p:cNvPr id="43" name="Shape 41"/>
          <p:cNvSpPr/>
          <p:nvPr/>
        </p:nvSpPr>
        <p:spPr>
          <a:xfrm>
            <a:off x="7831836" y="2756916"/>
            <a:ext cx="64008" cy="64008"/>
          </a:xfrm>
          <a:prstGeom prst="ellipse">
            <a:avLst/>
          </a:prstGeom>
          <a:solidFill>
            <a:srgbClr val="AFC1DF"/>
          </a:solidFill>
          <a:ln w="6350">
            <a:solidFill>
              <a:srgbClr val="AFC1DF"/>
            </a:solidFill>
            <a:prstDash val="solid"/>
          </a:ln>
        </p:spPr>
      </p:sp>
      <p:sp>
        <p:nvSpPr>
          <p:cNvPr id="44" name="Shape 42"/>
          <p:cNvSpPr/>
          <p:nvPr/>
        </p:nvSpPr>
        <p:spPr>
          <a:xfrm>
            <a:off x="6313932" y="1513332"/>
            <a:ext cx="82296" cy="82296"/>
          </a:xfrm>
          <a:prstGeom prst="ellipse">
            <a:avLst/>
          </a:prstGeom>
          <a:solidFill>
            <a:srgbClr val="D94F35"/>
          </a:solidFill>
          <a:ln w="6350">
            <a:solidFill>
              <a:srgbClr val="D94F35"/>
            </a:solidFill>
            <a:prstDash val="solid"/>
          </a:ln>
        </p:spPr>
      </p:sp>
      <p:sp>
        <p:nvSpPr>
          <p:cNvPr id="45" name="Shape 43"/>
          <p:cNvSpPr/>
          <p:nvPr/>
        </p:nvSpPr>
        <p:spPr>
          <a:xfrm>
            <a:off x="7822692" y="1339596"/>
            <a:ext cx="82296" cy="82296"/>
          </a:xfrm>
          <a:prstGeom prst="ellipse">
            <a:avLst/>
          </a:prstGeom>
          <a:solidFill>
            <a:srgbClr val="D94F35"/>
          </a:solidFill>
          <a:ln w="6350">
            <a:solidFill>
              <a:srgbClr val="D94F35"/>
            </a:solidFill>
            <a:prstDash val="solid"/>
          </a:ln>
        </p:spPr>
      </p:sp>
      <p:sp>
        <p:nvSpPr>
          <p:cNvPr id="46" name="Shape 44"/>
          <p:cNvSpPr/>
          <p:nvPr/>
        </p:nvSpPr>
        <p:spPr>
          <a:xfrm>
            <a:off x="5106924" y="2025396"/>
            <a:ext cx="118872" cy="118872"/>
          </a:xfrm>
          <a:prstGeom prst="ellipse">
            <a:avLst/>
          </a:prstGeom>
          <a:solidFill>
            <a:srgbClr val="1E2761"/>
          </a:solidFill>
          <a:ln w="6350">
            <a:solidFill>
              <a:srgbClr val="1E2761"/>
            </a:solidFill>
            <a:prstDash val="solid"/>
          </a:ln>
        </p:spPr>
      </p:sp>
      <p:sp>
        <p:nvSpPr>
          <p:cNvPr id="47" name="Text 45"/>
          <p:cNvSpPr/>
          <p:nvPr/>
        </p:nvSpPr>
        <p:spPr>
          <a:xfrm>
            <a:off x="7973568" y="1298448"/>
            <a:ext cx="457200" cy="182880"/>
          </a:xfrm>
          <a:prstGeom prst="rect">
            <a:avLst/>
          </a:prstGeom>
          <a:noFill/>
          <a:ln/>
        </p:spPr>
        <p:txBody>
          <a:bodyPr wrap="square" lIns="0" tIns="0" rIns="0" bIns="0" rtlCol="0" anchor="ctr"/>
          <a:lstStyle/>
          <a:p>
            <a:pPr indent="0" marL="0">
              <a:buNone/>
            </a:pPr>
            <a:r>
              <a:rPr lang="en-US" sz="850" b="1" dirty="0">
                <a:solidFill>
                  <a:srgbClr val="D94F35"/>
                </a:solidFill>
                <a:latin typeface="Calibri" pitchFamily="34" charset="0"/>
                <a:ea typeface="Calibri" pitchFamily="34" charset="-122"/>
                <a:cs typeface="Calibri" pitchFamily="34" charset="-120"/>
              </a:rPr>
              <a:t>best</a:t>
            </a:r>
            <a:endParaRPr lang="en-US" sz="850" dirty="0"/>
          </a:p>
        </p:txBody>
      </p:sp>
      <p:sp>
        <p:nvSpPr>
          <p:cNvPr id="48" name="Shape 46"/>
          <p:cNvSpPr/>
          <p:nvPr/>
        </p:nvSpPr>
        <p:spPr>
          <a:xfrm>
            <a:off x="457200" y="3017520"/>
            <a:ext cx="274320" cy="274320"/>
          </a:xfrm>
          <a:prstGeom prst="ellipse">
            <a:avLst/>
          </a:prstGeom>
          <a:solidFill>
            <a:srgbClr val="1E2761"/>
          </a:solidFill>
          <a:ln w="6350">
            <a:solidFill>
              <a:srgbClr val="1E2761"/>
            </a:solidFill>
            <a:prstDash val="solid"/>
          </a:ln>
        </p:spPr>
      </p:sp>
      <p:sp>
        <p:nvSpPr>
          <p:cNvPr id="49" name="Text 47"/>
          <p:cNvSpPr/>
          <p:nvPr/>
        </p:nvSpPr>
        <p:spPr>
          <a:xfrm>
            <a:off x="457200" y="30175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0" name="Text 48"/>
          <p:cNvSpPr/>
          <p:nvPr/>
        </p:nvSpPr>
        <p:spPr>
          <a:xfrm>
            <a:off x="859536" y="2971800"/>
            <a:ext cx="7827264" cy="384048"/>
          </a:xfrm>
          <a:prstGeom prst="rect">
            <a:avLst/>
          </a:prstGeom>
          <a:noFill/>
          <a:ln/>
        </p:spPr>
        <p:txBody>
          <a:bodyPr wrap="square" lIns="0" tIns="0" rIns="0" bIns="0" rtlCol="0" anchor="t"/>
          <a:lstStyle/>
          <a:p>
            <a:pPr algn="l" indent="0" marL="0">
              <a:lnSpc>
                <a:spcPct val="105000"/>
              </a:lnSpc>
              <a:buNone/>
            </a:pPr>
            <a:r>
              <a:rPr lang="en-US" sz="1150" b="1" dirty="0">
                <a:solidFill>
                  <a:srgbClr val="1E2761"/>
                </a:solidFill>
                <a:latin typeface="Calibri" pitchFamily="34" charset="0"/>
                <a:ea typeface="Calibri" pitchFamily="34" charset="-122"/>
                <a:cs typeface="Calibri" pitchFamily="34" charset="-120"/>
              </a:rPr>
              <a:t>Honest conditioning is the prerequisite. </a:t>
            </a:r>
            <a:pPr algn="l" indent="0" marL="0">
              <a:lnSpc>
                <a:spcPct val="105000"/>
              </a:lnSpc>
              <a:buNone/>
            </a:pPr>
            <a:r>
              <a:rPr lang="en-US" sz="1150" dirty="0">
                <a:solidFill>
                  <a:srgbClr val="2A2A33"/>
                </a:solidFill>
                <a:latin typeface="Calibri" pitchFamily="34" charset="0"/>
                <a:ea typeface="Calibri" pitchFamily="34" charset="-122"/>
                <a:cs typeface="Calibri" pitchFamily="34" charset="-120"/>
              </a:rPr>
              <a:t>A one-shot generator can’t continue from a hypothetical — force it and it invents confident nonsense the search then hunts. Made exact: </a:t>
            </a:r>
            <a:pPr algn="l" indent="0" marL="0">
              <a:lnSpc>
                <a:spcPct val="105000"/>
              </a:lnSpc>
              <a:buNone/>
            </a:pPr>
            <a:r>
              <a:rPr lang="en-US" sz="1150" b="1" dirty="0">
                <a:solidFill>
                  <a:srgbClr val="D94F35"/>
                </a:solidFill>
                <a:latin typeface="Calibri" pitchFamily="34" charset="0"/>
                <a:ea typeface="Calibri" pitchFamily="34" charset="-122"/>
                <a:cs typeface="Calibri" pitchFamily="34" charset="-120"/>
              </a:rPr>
              <a:t>+1 subtask in 43% of trials, positive on every seed.</a:t>
            </a:r>
            <a:endParaRPr lang="en-US" sz="1150" dirty="0"/>
          </a:p>
        </p:txBody>
      </p:sp>
      <p:sp>
        <p:nvSpPr>
          <p:cNvPr id="51" name="Shape 49"/>
          <p:cNvSpPr/>
          <p:nvPr/>
        </p:nvSpPr>
        <p:spPr>
          <a:xfrm>
            <a:off x="457200" y="3520440"/>
            <a:ext cx="274320" cy="274320"/>
          </a:xfrm>
          <a:prstGeom prst="ellipse">
            <a:avLst/>
          </a:prstGeom>
          <a:solidFill>
            <a:srgbClr val="1E2761"/>
          </a:solidFill>
          <a:ln w="6350">
            <a:solidFill>
              <a:srgbClr val="1E2761"/>
            </a:solidFill>
            <a:prstDash val="solid"/>
          </a:ln>
        </p:spPr>
      </p:sp>
      <p:sp>
        <p:nvSpPr>
          <p:cNvPr id="52" name="Text 50"/>
          <p:cNvSpPr/>
          <p:nvPr/>
        </p:nvSpPr>
        <p:spPr>
          <a:xfrm>
            <a:off x="457200" y="35204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53" name="Text 51"/>
          <p:cNvSpPr/>
          <p:nvPr/>
        </p:nvSpPr>
        <p:spPr>
          <a:xfrm>
            <a:off x="859536" y="3474720"/>
            <a:ext cx="7827264" cy="384048"/>
          </a:xfrm>
          <a:prstGeom prst="rect">
            <a:avLst/>
          </a:prstGeom>
          <a:noFill/>
          <a:ln/>
        </p:spPr>
        <p:txBody>
          <a:bodyPr wrap="square" lIns="0" tIns="0" rIns="0" bIns="0" rtlCol="0" anchor="t"/>
          <a:lstStyle/>
          <a:p>
            <a:pPr algn="l" indent="0" marL="0">
              <a:lnSpc>
                <a:spcPct val="105000"/>
              </a:lnSpc>
              <a:buNone/>
            </a:pPr>
            <a:r>
              <a:rPr lang="en-US" sz="1150" b="1" dirty="0">
                <a:solidFill>
                  <a:srgbClr val="1E2761"/>
                </a:solidFill>
                <a:latin typeface="Calibri" pitchFamily="34" charset="0"/>
                <a:ea typeface="Calibri" pitchFamily="34" charset="-122"/>
                <a:cs typeface="Calibri" pitchFamily="34" charset="-120"/>
              </a:rPr>
              <a:t>Search is an equaliser, not an amplifier. </a:t>
            </a:r>
            <a:pPr algn="l" indent="0" marL="0">
              <a:lnSpc>
                <a:spcPct val="105000"/>
              </a:lnSpc>
              <a:buNone/>
            </a:pPr>
            <a:r>
              <a:rPr lang="en-US" sz="1150" dirty="0">
                <a:solidFill>
                  <a:srgbClr val="2A2A33"/>
                </a:solidFill>
                <a:latin typeface="Calibri" pitchFamily="34" charset="0"/>
                <a:ea typeface="Calibri" pitchFamily="34" charset="-122"/>
                <a:cs typeface="Calibri" pitchFamily="34" charset="-120"/>
              </a:rPr>
              <a:t>Its gain grows as the generator weakens — </a:t>
            </a:r>
            <a:pPr algn="l" indent="0" marL="0">
              <a:lnSpc>
                <a:spcPct val="105000"/>
              </a:lnSpc>
              <a:buNone/>
            </a:pPr>
            <a:r>
              <a:rPr lang="en-US" sz="1150" b="1" dirty="0">
                <a:solidFill>
                  <a:srgbClr val="D94F35"/>
                </a:solidFill>
                <a:latin typeface="Calibri" pitchFamily="34" charset="0"/>
                <a:ea typeface="Calibri" pitchFamily="34" charset="-122"/>
                <a:cs typeface="Calibri" pitchFamily="34" charset="-120"/>
              </a:rPr>
              <a:t>+9 to +37 across three generators </a:t>
            </a:r>
            <a:pPr algn="l" indent="0" marL="0">
              <a:lnSpc>
                <a:spcPct val="105000"/>
              </a:lnSpc>
              <a:buNone/>
            </a:pPr>
            <a:r>
              <a:rPr lang="en-US" sz="1150" dirty="0">
                <a:solidFill>
                  <a:srgbClr val="2A2A33"/>
                </a:solidFill>
                <a:latin typeface="Calibri" pitchFamily="34" charset="0"/>
                <a:ea typeface="Calibri" pitchFamily="34" charset="-122"/>
                <a:cs typeface="Calibri" pitchFamily="34" charset="-120"/>
              </a:rPr>
              <a:t>— and against a strong one it buys nothing at all.</a:t>
            </a:r>
            <a:endParaRPr lang="en-US" sz="1150" dirty="0"/>
          </a:p>
        </p:txBody>
      </p:sp>
      <p:sp>
        <p:nvSpPr>
          <p:cNvPr id="54" name="Shape 52"/>
          <p:cNvSpPr/>
          <p:nvPr/>
        </p:nvSpPr>
        <p:spPr>
          <a:xfrm>
            <a:off x="457200" y="4023360"/>
            <a:ext cx="274320" cy="274320"/>
          </a:xfrm>
          <a:prstGeom prst="ellipse">
            <a:avLst/>
          </a:prstGeom>
          <a:solidFill>
            <a:srgbClr val="1E2761"/>
          </a:solidFill>
          <a:ln w="6350">
            <a:solidFill>
              <a:srgbClr val="1E2761"/>
            </a:solidFill>
            <a:prstDash val="solid"/>
          </a:ln>
        </p:spPr>
      </p:sp>
      <p:sp>
        <p:nvSpPr>
          <p:cNvPr id="55" name="Text 53"/>
          <p:cNvSpPr/>
          <p:nvPr/>
        </p:nvSpPr>
        <p:spPr>
          <a:xfrm>
            <a:off x="457200" y="40233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56" name="Text 54"/>
          <p:cNvSpPr/>
          <p:nvPr/>
        </p:nvSpPr>
        <p:spPr>
          <a:xfrm>
            <a:off x="859536" y="3977640"/>
            <a:ext cx="7827264" cy="384048"/>
          </a:xfrm>
          <a:prstGeom prst="rect">
            <a:avLst/>
          </a:prstGeom>
          <a:noFill/>
          <a:ln/>
        </p:spPr>
        <p:txBody>
          <a:bodyPr wrap="square" lIns="0" tIns="0" rIns="0" bIns="0" rtlCol="0" anchor="t"/>
          <a:lstStyle/>
          <a:p>
            <a:pPr algn="l" indent="0" marL="0">
              <a:lnSpc>
                <a:spcPct val="105000"/>
              </a:lnSpc>
              <a:buNone/>
            </a:pPr>
            <a:r>
              <a:rPr lang="en-US" sz="1150" b="1" dirty="0">
                <a:solidFill>
                  <a:srgbClr val="1E2761"/>
                </a:solidFill>
                <a:latin typeface="Calibri" pitchFamily="34" charset="0"/>
                <a:ea typeface="Calibri" pitchFamily="34" charset="-122"/>
                <a:cs typeface="Calibri" pitchFamily="34" charset="-120"/>
              </a:rPr>
              <a:t>Nothing beat the ceiling of the data. </a:t>
            </a:r>
            <a:pPr algn="l" indent="0" marL="0">
              <a:lnSpc>
                <a:spcPct val="105000"/>
              </a:lnSpc>
              <a:buNone/>
            </a:pPr>
            <a:r>
              <a:rPr lang="en-US" sz="1150" dirty="0">
                <a:solidFill>
                  <a:srgbClr val="2A2A33"/>
                </a:solidFill>
                <a:latin typeface="Calibri" pitchFamily="34" charset="0"/>
                <a:ea typeface="Calibri" pitchFamily="34" charset="-122"/>
                <a:cs typeface="Calibri" pitchFamily="34" charset="-120"/>
              </a:rPr>
              <a:t>Across </a:t>
            </a:r>
            <a:pPr algn="l" indent="0" marL="0">
              <a:lnSpc>
                <a:spcPct val="105000"/>
              </a:lnSpc>
              <a:buNone/>
            </a:pPr>
            <a:r>
              <a:rPr lang="en-US" sz="1150" b="1" dirty="0">
                <a:solidFill>
                  <a:srgbClr val="D94F35"/>
                </a:solidFill>
                <a:latin typeface="Calibri" pitchFamily="34" charset="0"/>
                <a:ea typeface="Calibri" pitchFamily="34" charset="-122"/>
                <a:cs typeface="Calibri" pitchFamily="34" charset="-120"/>
              </a:rPr>
              <a:t>850 trials and four methods, not one </a:t>
            </a:r>
            <a:pPr algn="l" indent="0" marL="0">
              <a:lnSpc>
                <a:spcPct val="105000"/>
              </a:lnSpc>
              <a:buNone/>
            </a:pPr>
            <a:r>
              <a:rPr lang="en-US" sz="1150" dirty="0">
                <a:solidFill>
                  <a:srgbClr val="2A2A33"/>
                </a:solidFill>
                <a:latin typeface="Calibri" pitchFamily="34" charset="0"/>
                <a:ea typeface="Calibri" pitchFamily="34" charset="-122"/>
                <a:cs typeface="Calibri" pitchFamily="34" charset="-120"/>
              </a:rPr>
              <a:t>exceeded the best behaviour the training set ever demonstrated — verified in the raw data itself.</a:t>
            </a:r>
            <a:endParaRPr lang="en-US" sz="1150" dirty="0"/>
          </a:p>
        </p:txBody>
      </p:sp>
      <p:sp>
        <p:nvSpPr>
          <p:cNvPr id="57" name="Text 55"/>
          <p:cNvSpPr/>
          <p:nvPr/>
        </p:nvSpPr>
        <p:spPr>
          <a:xfrm>
            <a:off x="457200" y="4626864"/>
            <a:ext cx="8229600" cy="274320"/>
          </a:xfrm>
          <a:prstGeom prst="rect">
            <a:avLst/>
          </a:prstGeom>
          <a:noFill/>
          <a:ln/>
        </p:spPr>
        <p:txBody>
          <a:bodyPr wrap="square" lIns="0" tIns="0" rIns="0" bIns="0" rtlCol="0" anchor="ctr"/>
          <a:lstStyle/>
          <a:p>
            <a:pPr algn="l" indent="0" marL="0">
              <a:buNone/>
            </a:pPr>
            <a:r>
              <a:rPr lang="en-US" sz="1050" i="1" dirty="0">
                <a:solidFill>
                  <a:srgbClr val="6E7480"/>
                </a:solidFill>
                <a:latin typeface="Calibri" pitchFamily="34" charset="0"/>
                <a:ea typeface="Calibri" pitchFamily="34" charset="-122"/>
                <a:cs typeface="Calibri" pitchFamily="34" charset="-120"/>
              </a:rPr>
              <a:t>Not a new state of the art — a measured law of when inference-time search pays, each clause carrying its own controlled experiment.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2026-07-15T14:09:35Z</dcterms:created>
  <dcterms:modified xsi:type="dcterms:W3CDTF">2026-07-15T14:09:35Z</dcterms:modified>
</cp:coreProperties>
</file>